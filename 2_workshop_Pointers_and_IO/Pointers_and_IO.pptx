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33"/>
  </p:notesMasterIdLst>
  <p:sldIdLst>
    <p:sldId id="256" r:id="rId2"/>
    <p:sldId id="261" r:id="rId3"/>
    <p:sldId id="290" r:id="rId4"/>
    <p:sldId id="264" r:id="rId5"/>
    <p:sldId id="289" r:id="rId6"/>
    <p:sldId id="267" r:id="rId7"/>
    <p:sldId id="271" r:id="rId8"/>
    <p:sldId id="273" r:id="rId9"/>
    <p:sldId id="274" r:id="rId10"/>
    <p:sldId id="276" r:id="rId11"/>
    <p:sldId id="301" r:id="rId12"/>
    <p:sldId id="302" r:id="rId13"/>
    <p:sldId id="303" r:id="rId14"/>
    <p:sldId id="291" r:id="rId15"/>
    <p:sldId id="293" r:id="rId16"/>
    <p:sldId id="294" r:id="rId17"/>
    <p:sldId id="296" r:id="rId18"/>
    <p:sldId id="297" r:id="rId19"/>
    <p:sldId id="298" r:id="rId20"/>
    <p:sldId id="299" r:id="rId21"/>
    <p:sldId id="300" r:id="rId22"/>
    <p:sldId id="305" r:id="rId23"/>
    <p:sldId id="304" r:id="rId24"/>
    <p:sldId id="292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272727"/>
    <a:srgbClr val="1B1B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2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3B177-802C-4EC1-ABCD-2E16523091B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40FC9-6A7D-4147-9A4B-BFE972800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59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44D6B-29B6-F520-9D11-7228D2A75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AF14A-85F3-9FB2-507E-7A8AD41FC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D24E7-3BEB-9922-232E-496235E3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E8D3A-71EC-4C69-B3F8-1AF5D7985EC3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64CE1-E67C-2A08-348D-2037F72B7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86976-3799-40F0-BA21-EEE0120D9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43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47AD-AB43-F397-7FF8-62F2E7191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1AF9F-11A1-1415-DD85-F522EC378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FC4C8-5C65-86FD-1A04-89DEE192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FAA26-6183-49BC-B45A-1C53E9070362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4ECD3-FAD0-E438-833E-700B225AC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0F50D-03F9-D4E1-EC6B-71415824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E2682-7CA9-3B18-6222-9494B8BF1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99962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590CF-1190-FCD9-E04A-6C379B575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847591"/>
            <a:ext cx="10515600" cy="1500187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5A22A-3B82-15CF-E369-AACC679FB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A3D37-AD8A-41F1-AEAA-A0137A2B2D74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923F6-E53D-E703-074F-461B03D55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CF195-4B01-A156-7BC2-8E90A703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57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66DC-B43E-B89A-5D1C-26C263DD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6D625-48D1-A2AF-206A-93244F16E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0B091-D5B8-5196-9C6A-A568E0E75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B888A-7398-421A-6783-85458314A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791A5-C1F6-48E6-B2F2-C54E6DA9D8FB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D6C92-9D2A-D3C8-EBA7-381AA25D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83521-3633-F041-4C4E-8F683104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3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0D8C7-9B7F-9952-0A0E-E24D9AB69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DB665-0482-0E3A-7B2D-5D94EA9DF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07BD0-21D9-EFE3-C639-D96168550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D5E8AA-05E9-C01B-3676-54428226B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43171D-099A-E65C-F466-41650BA84E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A62705-87E3-A133-D7D1-058F4D9A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E2CD-651A-458E-B3D8-6151637DF896}" type="datetime1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2D766-0C9F-ABE5-D2BA-CE22A075A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86E240-1FA3-B977-681F-D94AC9CF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27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1A15-2D58-F144-7A44-C59DEF08B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E79DD-3BEC-EEC9-1B8A-83D41634A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8B42B-09F1-441B-96B2-874813031574}" type="datetime1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AF880-AEFD-6786-DB53-DEC02BB0D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4A0DF-B4AD-756D-CCBA-F42BED63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475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BB3CA-EAE9-9ADC-2D0C-507E054CE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99356-3A78-4E71-B4E9-438F1898B6B3}" type="datetime1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55DBB7-EB95-856F-663E-BEC4E6C64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17E07-313A-00A5-D985-BB469C2F1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46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B6870-534F-DE15-63BE-773494375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7FDEB-7CB9-3BD0-1BAD-0A5E8F1C9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0D7A2-CEA9-E1D6-95A0-D15751F11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F0405-FFF7-C3A1-8E76-D60C8C149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EDA6F-F60F-406E-B843-B0AAA5B4B0AC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A5730-6193-EA73-5606-47F6CA98E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A4962-7C5B-11A3-1A6B-37FC78B66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06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550F-F03B-84E7-5252-E09A976B0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61144B-B37B-3210-B559-714C592F3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A19EF-AE84-0945-AD11-715F8B741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1E9E4-A8F9-478D-CD78-3C0DA6C3D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0C986-3264-43A0-94DA-8C1D60F47A1D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EE241-77EE-0BE8-E769-B9A5DA34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3B84D-3804-8F06-0385-FC5897E3F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8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5D65E-0DCD-8928-B589-63BB1A51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8768D6-4930-5A7E-C78F-90706415A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4525F-2A09-11E0-2EDB-AB4969F9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A0F8C-A8CF-4922-9339-77F89B91A006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B280B-E569-C3E2-8DE4-B1B54799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09A8B-E432-7A73-C2E2-80313A44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78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6CD370-D017-34D1-F49C-153547CC2B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1E5F1-69D7-9506-E781-E3CED9270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316E1-ABD9-ECA0-F826-445F5674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FF51-27CD-4006-8A6C-6128EB3F81FA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FF425-EF28-9C28-1108-D23B3BA8A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BBAD2-FCFD-06E9-1F6D-00EF9471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5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E04588-DD35-60FD-0F7C-3E573C7D5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2E36F-577E-818A-D3BE-D11B599BF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3F47F-9872-4D01-8638-AA5E8E6BF9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45A29D-5CD2-4782-8C62-B1E96EDF2748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54B8A-F50C-BFAF-CE99-5771F841E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131D0-3CB6-6596-BF45-D8FEC1196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103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fld id="{C1E269DE-A5AD-412D-9C19-052F9FC7FE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277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BC953-EB40-FC9F-25AB-8BDFA7105A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Pointers and I</a:t>
            </a:r>
            <a:r>
              <a:rPr lang="en-US" dirty="0"/>
              <a:t>/O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A073F-0C99-BD60-AC85-32115F88BB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Ali Ghaffarian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011F8-9B05-C309-B9C8-225F874CB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930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5A237-2C80-DF46-5050-AE0AA838F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71E1-4723-1B86-685B-CDAC89D63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DFDF0-013B-C6C3-F8C2-04F3762A0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 of Last Talk</a:t>
            </a:r>
          </a:p>
          <a:p>
            <a:r>
              <a:rPr lang="en-US" dirty="0"/>
              <a:t>Pointers</a:t>
            </a:r>
          </a:p>
          <a:p>
            <a:r>
              <a:rPr lang="en-US" dirty="0"/>
              <a:t>I/O</a:t>
            </a:r>
          </a:p>
          <a:p>
            <a:r>
              <a:rPr lang="en-US" dirty="0"/>
              <a:t>More Reversing</a:t>
            </a:r>
          </a:p>
          <a:p>
            <a:r>
              <a:rPr lang="en-US" dirty="0"/>
              <a:t>The Compilation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D4DD8-5345-7B45-2269-E2243A65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24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EFC27-A0E8-F8D6-7CF8-DCE604372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Last Talk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859B3-ED95-E759-9A18-06C59008B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EC3EB-7A50-0D73-2D56-CEE07153B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1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C4889-0143-80D9-C872-8497FFD90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AD625A7-2138-BB03-563F-E6F13DB707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721749"/>
              </p:ext>
            </p:extLst>
          </p:nvPr>
        </p:nvGraphicFramePr>
        <p:xfrm>
          <a:off x="1509928" y="842169"/>
          <a:ext cx="9172143" cy="5173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688700" imgH="8286596" progId="">
                  <p:embed/>
                </p:oleObj>
              </mc:Choice>
              <mc:Fallback>
                <p:oleObj r:id="rId2" imgW="14688700" imgH="8286596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09928" y="842169"/>
                        <a:ext cx="9172143" cy="5173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7034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2FA85-8E9A-8117-F17C-74388C9E4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542AC-4F5B-4FD2-64A1-7320D844E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5</a:t>
            </a:fld>
            <a:endParaRPr lang="en-US"/>
          </a:p>
        </p:txBody>
      </p:sp>
      <p:pic>
        <p:nvPicPr>
          <p:cNvPr id="1028" name="Picture 4" descr="CATEGORIES IN CTF CHALLENGES – SIMCC Member Development Portal">
            <a:extLst>
              <a:ext uri="{FF2B5EF4-FFF2-40B4-BE49-F238E27FC236}">
                <a16:creationId xmlns:a16="http://schemas.microsoft.com/office/drawing/2014/main" id="{1619FFC0-0B81-B556-CC02-50EF9925A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88" y="1380058"/>
            <a:ext cx="10120450" cy="444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E99D75-A722-7DBF-AECE-B87424CFA3C1}"/>
              </a:ext>
            </a:extLst>
          </p:cNvPr>
          <p:cNvSpPr/>
          <p:nvPr/>
        </p:nvSpPr>
        <p:spPr>
          <a:xfrm>
            <a:off x="1271660" y="1380058"/>
            <a:ext cx="6601324" cy="622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704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A61F7-A5EE-C6A2-078C-A0346530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Graphing binary code with IDA Pro | Download Scientific Diagram">
            <a:extLst>
              <a:ext uri="{FF2B5EF4-FFF2-40B4-BE49-F238E27FC236}">
                <a16:creationId xmlns:a16="http://schemas.microsoft.com/office/drawing/2014/main" id="{42CFC8BF-60B6-1A0C-F6BA-BDD42EABA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208" y="1437602"/>
            <a:ext cx="6456784" cy="5420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F390CF-468C-538F-6588-AC9137A2C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Engineering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8AEBB-AF7B-A913-B3E3-6D33ED92E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6</a:t>
            </a:fld>
            <a:endParaRPr lang="en-US"/>
          </a:p>
        </p:txBody>
      </p:sp>
      <p:sp>
        <p:nvSpPr>
          <p:cNvPr id="5" name="AutoShape 2" descr="Graphing binary code with IDA Pro | Download Scientific Diagram">
            <a:extLst>
              <a:ext uri="{FF2B5EF4-FFF2-40B4-BE49-F238E27FC236}">
                <a16:creationId xmlns:a16="http://schemas.microsoft.com/office/drawing/2014/main" id="{18FFA52E-3694-6DBA-058D-10AD3B4026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89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2C7C-EA77-A09E-DD0F-6D5750F6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371C4-A78D-AA6B-3EEF-CF99273FE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Game Hacking</a:t>
            </a:r>
          </a:p>
          <a:p>
            <a:r>
              <a:rPr lang="en-US" dirty="0"/>
              <a:t>Malware Analysis</a:t>
            </a:r>
          </a:p>
          <a:p>
            <a:r>
              <a:rPr lang="en-US" dirty="0"/>
              <a:t>Cracking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9B770-AD84-45B0-FEE9-B92A44A2D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2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DF4B1-0092-398D-8CAC-5233BAE3B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458D-24B6-92B1-D94D-1358B141E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82778-5C86-C702-E89B-F5B54CBD3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vs Dynamic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2F52C-D15B-AEC5-338E-3AA0A47B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9A06E-DF66-9199-B2AD-37FF64918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C8A9A-930D-60C2-3665-8F9B9E311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8" descr="Graphing binary code with IDA Pro | Download Scientific Diagram">
            <a:extLst>
              <a:ext uri="{FF2B5EF4-FFF2-40B4-BE49-F238E27FC236}">
                <a16:creationId xmlns:a16="http://schemas.microsoft.com/office/drawing/2014/main" id="{B9476CF0-DE72-718A-F2D8-3BD833955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100" y="1643710"/>
            <a:ext cx="5993800" cy="503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183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7DB7D-7A7C-C982-C8B3-C3810EB4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97EFC-BBCC-3834-39F4-376D94FC0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IDA</a:t>
            </a:r>
          </a:p>
          <a:p>
            <a:r>
              <a:rPr lang="en-US" dirty="0" err="1"/>
              <a:t>Ghidra</a:t>
            </a:r>
            <a:endParaRPr lang="en-US" dirty="0"/>
          </a:p>
          <a:p>
            <a:r>
              <a:rPr lang="en-US" dirty="0"/>
              <a:t>Dogbolt.org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B0B20-1E13-6ABD-7481-9B1AA791A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76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E0864-86B2-DED2-0EE2-F8BDCA5B7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A7F9C-AA09-8015-74AB-CC7FFFB01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Address of Memory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number = 0x55223344;</a:t>
            </a:r>
          </a:p>
          <a:p>
            <a:pPr marL="0" indent="0">
              <a:buNone/>
            </a:pPr>
            <a:r>
              <a:rPr lang="en-US"/>
              <a:t>int *ptr</a:t>
            </a:r>
            <a:r>
              <a:rPr lang="en-US" dirty="0" err="1"/>
              <a:t>_number</a:t>
            </a:r>
            <a:r>
              <a:rPr lang="en-US" dirty="0"/>
              <a:t> = &amp;number;</a:t>
            </a:r>
          </a:p>
          <a:p>
            <a:pPr marL="0" indent="0">
              <a:buNone/>
            </a:pPr>
            <a:r>
              <a:rPr lang="en-US" dirty="0"/>
              <a:t>void *</a:t>
            </a:r>
            <a:r>
              <a:rPr lang="en-US" dirty="0" err="1"/>
              <a:t>v_ptr_number</a:t>
            </a:r>
            <a:r>
              <a:rPr lang="en-US" dirty="0"/>
              <a:t> = &amp;number;</a:t>
            </a:r>
          </a:p>
          <a:p>
            <a:pPr marL="0" indent="0">
              <a:buNone/>
            </a:pPr>
            <a:r>
              <a:rPr lang="en-US" dirty="0"/>
              <a:t>char *</a:t>
            </a:r>
            <a:r>
              <a:rPr lang="en-US" dirty="0" err="1"/>
              <a:t>c_ptr_number</a:t>
            </a:r>
            <a:r>
              <a:rPr lang="en-US" dirty="0"/>
              <a:t> = &amp;number;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906FF-871F-0257-AAC1-7557BDFF8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753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E773-18FE-6A6F-29AB-689D3509A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F5191-CB9F-D237-B460-EA8B48AEF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BB96C9-1715-24F9-40DF-EB1788743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390734"/>
              </p:ext>
            </p:extLst>
          </p:nvPr>
        </p:nvGraphicFramePr>
        <p:xfrm>
          <a:off x="2942844" y="1766737"/>
          <a:ext cx="6160008" cy="481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47060">
                  <a:extLst>
                    <a:ext uri="{9D8B030D-6E8A-4147-A177-3AD203B41FA5}">
                      <a16:colId xmlns:a16="http://schemas.microsoft.com/office/drawing/2014/main" val="2549843663"/>
                    </a:ext>
                  </a:extLst>
                </a:gridCol>
                <a:gridCol w="3012948">
                  <a:extLst>
                    <a:ext uri="{9D8B030D-6E8A-4147-A177-3AD203B41FA5}">
                      <a16:colId xmlns:a16="http://schemas.microsoft.com/office/drawing/2014/main" val="2917281081"/>
                    </a:ext>
                  </a:extLst>
                </a:gridCol>
              </a:tblGrid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62266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0x0000009CF0FFF860 (8B)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55527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0x0000009CF0FFF860 (8B)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38485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0x0000009CF0FFF860 (8B)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70767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767614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935247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52974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236146"/>
                  </a:ext>
                </a:extLst>
              </a:tr>
            </a:tbl>
          </a:graphicData>
        </a:graphic>
      </p:graphicFrame>
      <p:sp>
        <p:nvSpPr>
          <p:cNvPr id="16" name="Left Bracket 15">
            <a:extLst>
              <a:ext uri="{FF2B5EF4-FFF2-40B4-BE49-F238E27FC236}">
                <a16:creationId xmlns:a16="http://schemas.microsoft.com/office/drawing/2014/main" id="{4C79C022-A3CD-F80F-183A-0345E5A4CE20}"/>
              </a:ext>
            </a:extLst>
          </p:cNvPr>
          <p:cNvSpPr/>
          <p:nvPr/>
        </p:nvSpPr>
        <p:spPr>
          <a:xfrm>
            <a:off x="2505456" y="4187952"/>
            <a:ext cx="210312" cy="2398017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A1FCD118-BFDC-D917-ACFD-2661F958FCD6}"/>
              </a:ext>
            </a:extLst>
          </p:cNvPr>
          <p:cNvSpPr/>
          <p:nvPr/>
        </p:nvSpPr>
        <p:spPr>
          <a:xfrm>
            <a:off x="1862328" y="6035040"/>
            <a:ext cx="210312" cy="550929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9F6FB7-6A9D-C423-DC93-90B85CC715F1}"/>
              </a:ext>
            </a:extLst>
          </p:cNvPr>
          <p:cNvSpPr txBox="1"/>
          <p:nvPr/>
        </p:nvSpPr>
        <p:spPr>
          <a:xfrm>
            <a:off x="1038662" y="5017628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ptr_number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048454-F689-E207-88DB-AF025D59D1BF}"/>
              </a:ext>
            </a:extLst>
          </p:cNvPr>
          <p:cNvSpPr txBox="1"/>
          <p:nvPr/>
        </p:nvSpPr>
        <p:spPr>
          <a:xfrm>
            <a:off x="206558" y="6068678"/>
            <a:ext cx="1664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c_ptr_number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29AB14-7D0F-8D92-A491-3130C4038B71}"/>
              </a:ext>
            </a:extLst>
          </p:cNvPr>
          <p:cNvSpPr txBox="1"/>
          <p:nvPr/>
        </p:nvSpPr>
        <p:spPr>
          <a:xfrm>
            <a:off x="838200" y="3631168"/>
            <a:ext cx="1911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</a:t>
            </a:r>
            <a:r>
              <a:rPr lang="en-US" dirty="0" err="1"/>
              <a:t>c_ptr_number</a:t>
            </a:r>
            <a:r>
              <a:rPr lang="en-US" dirty="0"/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B407C5-A3D3-5F31-B7DD-985146268F9E}"/>
              </a:ext>
            </a:extLst>
          </p:cNvPr>
          <p:cNvSpPr txBox="1"/>
          <p:nvPr/>
        </p:nvSpPr>
        <p:spPr>
          <a:xfrm>
            <a:off x="838200" y="3042166"/>
            <a:ext cx="1911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</a:t>
            </a:r>
            <a:r>
              <a:rPr lang="en-US" dirty="0" err="1"/>
              <a:t>v_ptr_number</a:t>
            </a:r>
            <a:r>
              <a:rPr lang="en-US" dirty="0"/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F9382E-6C1A-E51F-DBE2-D9934C8920E5}"/>
              </a:ext>
            </a:extLst>
          </p:cNvPr>
          <p:cNvSpPr txBox="1"/>
          <p:nvPr/>
        </p:nvSpPr>
        <p:spPr>
          <a:xfrm>
            <a:off x="838200" y="2412413"/>
            <a:ext cx="1911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</a:t>
            </a:r>
            <a:r>
              <a:rPr lang="en-US" dirty="0" err="1"/>
              <a:t>ptr_number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3489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82D06-36B1-D717-D4B0-7339B0A12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36586"/>
            <a:ext cx="10515600" cy="1999620"/>
          </a:xfrm>
        </p:spPr>
        <p:txBody>
          <a:bodyPr/>
          <a:lstStyle/>
          <a:p>
            <a:r>
              <a:rPr lang="en-US"/>
              <a:t>Demo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C39D5-18C2-50D1-A919-386E96088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ptr.c</a:t>
            </a:r>
            <a:r>
              <a:rPr lang="en-US" dirty="0"/>
              <a:t>, </a:t>
            </a:r>
            <a:r>
              <a:rPr lang="en-US" dirty="0" err="1"/>
              <a:t>memory_view.c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BAC98-1FB5-B384-EFBF-9ABE4C3E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01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5122-3A3C-F2C2-5171-F54B60BE7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Input/Output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E0D53-EF94-DC1C-D432-22F081050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42842-4441-0657-4B2A-F5D7155D0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0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D860-E269-8635-32F4-7EFF139F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Descriptors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4FDBA-238B-15C9-1B3C-D62A937D5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handle for a I/O resource</a:t>
            </a:r>
          </a:p>
          <a:p>
            <a:r>
              <a:rPr lang="en-US" dirty="0"/>
              <a:t>Local to your 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04A8A-DE19-973C-1B28-30916B4B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52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218CD-2033-3C00-4BD1-1D523B81F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FD’s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0387C-1EA6-27FB-F70F-3013E2FCA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fcntl.h</a:t>
            </a:r>
            <a:r>
              <a:rPr lang="en-US" dirty="0"/>
              <a:t>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main(){</a:t>
            </a:r>
          </a:p>
          <a:p>
            <a:pPr marL="0" indent="0">
              <a:buNone/>
            </a:pPr>
            <a:r>
              <a:rPr lang="en-US" dirty="0"/>
              <a:t>        char buff[128] = {0};</a:t>
            </a:r>
          </a:p>
          <a:p>
            <a:pPr marL="0" indent="0">
              <a:buNone/>
            </a:pPr>
            <a:r>
              <a:rPr lang="en-US" dirty="0"/>
              <a:t>        int </a:t>
            </a:r>
            <a:r>
              <a:rPr lang="en-US" dirty="0" err="1"/>
              <a:t>fd</a:t>
            </a:r>
            <a:r>
              <a:rPr lang="en-US" dirty="0"/>
              <a:t> = open("./hello_world.txt", O_RDONLY, 0);</a:t>
            </a:r>
          </a:p>
          <a:p>
            <a:pPr marL="0" indent="0">
              <a:buNone/>
            </a:pPr>
            <a:r>
              <a:rPr lang="en-US" dirty="0"/>
              <a:t>        int </a:t>
            </a:r>
            <a:r>
              <a:rPr lang="en-US" dirty="0" err="1"/>
              <a:t>read_bytes</a:t>
            </a:r>
            <a:r>
              <a:rPr lang="en-US" dirty="0"/>
              <a:t> = read(</a:t>
            </a:r>
            <a:r>
              <a:rPr lang="en-US" dirty="0" err="1"/>
              <a:t>fd</a:t>
            </a:r>
            <a:r>
              <a:rPr lang="en-US" dirty="0"/>
              <a:t>, buff, </a:t>
            </a:r>
            <a:r>
              <a:rPr lang="en-US" dirty="0" err="1"/>
              <a:t>sizeof</a:t>
            </a:r>
            <a:r>
              <a:rPr lang="en-US" dirty="0"/>
              <a:t>(buff));</a:t>
            </a:r>
          </a:p>
          <a:p>
            <a:pPr marL="0" indent="0">
              <a:buNone/>
            </a:pPr>
            <a:r>
              <a:rPr lang="en-US" dirty="0"/>
              <a:t>        write(1 , buff, </a:t>
            </a:r>
            <a:r>
              <a:rPr lang="en-US" dirty="0" err="1"/>
              <a:t>read_bytes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1F698-67D1-4072-93D9-8142E74C4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76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6BABD-3977-0782-7D15-F7F9B7A83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27029E-3C6F-8ECA-D0DF-E12495599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642303"/>
              </p:ext>
            </p:extLst>
          </p:nvPr>
        </p:nvGraphicFramePr>
        <p:xfrm>
          <a:off x="2032000" y="182563"/>
          <a:ext cx="8128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897065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158906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1634127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93890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File descriptor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permissions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45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[STDIN]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Read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82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[STDOUT]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Write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571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[STDERR]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Write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93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2560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9664FC2-526E-E3BF-A39D-4782BC57F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801700"/>
              </p:ext>
            </p:extLst>
          </p:nvPr>
        </p:nvGraphicFramePr>
        <p:xfrm>
          <a:off x="6265164" y="2736001"/>
          <a:ext cx="4690872" cy="3614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3852">
                  <a:extLst>
                    <a:ext uri="{9D8B030D-6E8A-4147-A177-3AD203B41FA5}">
                      <a16:colId xmlns:a16="http://schemas.microsoft.com/office/drawing/2014/main" val="2549843663"/>
                    </a:ext>
                  </a:extLst>
                </a:gridCol>
                <a:gridCol w="2827020">
                  <a:extLst>
                    <a:ext uri="{9D8B030D-6E8A-4147-A177-3AD203B41FA5}">
                      <a16:colId xmlns:a16="http://schemas.microsoft.com/office/drawing/2014/main" val="2917281081"/>
                    </a:ext>
                  </a:extLst>
                </a:gridCol>
              </a:tblGrid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38485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70767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767614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935247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52974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236146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4C76B9-3D9F-449D-A2F6-5435E97AFFDA}"/>
              </a:ext>
            </a:extLst>
          </p:cNvPr>
          <p:cNvCxnSpPr/>
          <p:nvPr/>
        </p:nvCxnSpPr>
        <p:spPr>
          <a:xfrm>
            <a:off x="5347716" y="5999416"/>
            <a:ext cx="6949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F907808-715E-9550-BF0D-B05AAA2441E3}"/>
              </a:ext>
            </a:extLst>
          </p:cNvPr>
          <p:cNvSpPr/>
          <p:nvPr/>
        </p:nvSpPr>
        <p:spPr>
          <a:xfrm>
            <a:off x="4503420" y="5688520"/>
            <a:ext cx="749808" cy="621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buff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7EF3C65-1B58-29CD-9A4E-4C0783CC8790}"/>
              </a:ext>
            </a:extLst>
          </p:cNvPr>
          <p:cNvSpPr txBox="1">
            <a:spLocks/>
          </p:cNvSpPr>
          <p:nvPr/>
        </p:nvSpPr>
        <p:spPr>
          <a:xfrm>
            <a:off x="188976" y="2603691"/>
            <a:ext cx="484022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open(“./</a:t>
            </a:r>
            <a:r>
              <a:rPr lang="en-US" sz="3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hello_world.c</a:t>
            </a: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read(3)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write(1)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close(3)</a:t>
            </a:r>
          </a:p>
        </p:txBody>
      </p:sp>
    </p:spTree>
    <p:extLst>
      <p:ext uri="{BB962C8B-B14F-4D97-AF65-F5344CB8AC3E}">
        <p14:creationId xmlns:p14="http://schemas.microsoft.com/office/powerpoint/2010/main" val="1052350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E9D29-C3F2-A407-2B8B-0FD8A572A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608478-EEB7-62DF-379E-5C15A17A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CA6BC9E-D13D-F827-0E86-48940B1E4AC5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82563"/>
          <a:ext cx="8128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897065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158906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1634127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93890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File descriptor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permissions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45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[STDIN]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Read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82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[STDOUT]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Write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571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[STDERR]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Write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93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./</a:t>
                      </a:r>
                      <a:r>
                        <a:rPr lang="en-US" dirty="0" err="1"/>
                        <a:t>hello_world.c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Read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2560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47706D-AFB4-DC71-68E7-81F3029D8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697605"/>
              </p:ext>
            </p:extLst>
          </p:nvPr>
        </p:nvGraphicFramePr>
        <p:xfrm>
          <a:off x="6265164" y="2736001"/>
          <a:ext cx="4690872" cy="3614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3852">
                  <a:extLst>
                    <a:ext uri="{9D8B030D-6E8A-4147-A177-3AD203B41FA5}">
                      <a16:colId xmlns:a16="http://schemas.microsoft.com/office/drawing/2014/main" val="2549843663"/>
                    </a:ext>
                  </a:extLst>
                </a:gridCol>
                <a:gridCol w="2827020">
                  <a:extLst>
                    <a:ext uri="{9D8B030D-6E8A-4147-A177-3AD203B41FA5}">
                      <a16:colId xmlns:a16="http://schemas.microsoft.com/office/drawing/2014/main" val="2917281081"/>
                    </a:ext>
                  </a:extLst>
                </a:gridCol>
              </a:tblGrid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38485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70767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767614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935247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52974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236146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5B099F-9532-7030-0983-56EA801F31B2}"/>
              </a:ext>
            </a:extLst>
          </p:cNvPr>
          <p:cNvCxnSpPr/>
          <p:nvPr/>
        </p:nvCxnSpPr>
        <p:spPr>
          <a:xfrm>
            <a:off x="5347716" y="5999416"/>
            <a:ext cx="6949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85F5C78-D515-D3A2-203E-5B53F1A0437F}"/>
              </a:ext>
            </a:extLst>
          </p:cNvPr>
          <p:cNvSpPr/>
          <p:nvPr/>
        </p:nvSpPr>
        <p:spPr>
          <a:xfrm>
            <a:off x="4503420" y="5688520"/>
            <a:ext cx="749808" cy="621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buff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31E2C52-D76A-E065-A87D-211D3E408B71}"/>
              </a:ext>
            </a:extLst>
          </p:cNvPr>
          <p:cNvSpPr txBox="1">
            <a:spLocks/>
          </p:cNvSpPr>
          <p:nvPr/>
        </p:nvSpPr>
        <p:spPr>
          <a:xfrm>
            <a:off x="188976" y="2603691"/>
            <a:ext cx="484022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3200" dirty="0"/>
              <a:t>open(“./</a:t>
            </a:r>
            <a:r>
              <a:rPr lang="en-US" sz="3200" dirty="0" err="1"/>
              <a:t>hello_world.c</a:t>
            </a:r>
            <a:r>
              <a:rPr lang="en-US" sz="3200" dirty="0"/>
              <a:t>“)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read(3)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write(1)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close(3)</a:t>
            </a:r>
          </a:p>
        </p:txBody>
      </p:sp>
    </p:spTree>
    <p:extLst>
      <p:ext uri="{BB962C8B-B14F-4D97-AF65-F5344CB8AC3E}">
        <p14:creationId xmlns:p14="http://schemas.microsoft.com/office/powerpoint/2010/main" val="2609820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00857-ED00-23E9-9C27-E778E42F8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B58852-BE48-2312-4877-7EEAB1960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686382-DF84-69E1-FA45-47DB6AC97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363542"/>
              </p:ext>
            </p:extLst>
          </p:nvPr>
        </p:nvGraphicFramePr>
        <p:xfrm>
          <a:off x="2032000" y="182563"/>
          <a:ext cx="8128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897065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158906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1634127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93890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File descriptor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permissions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45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[STDIN]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Read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82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[STDOUT]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Write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571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[STDERR]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Write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93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./</a:t>
                      </a:r>
                      <a:r>
                        <a:rPr lang="en-US" dirty="0" err="1"/>
                        <a:t>hello_world.c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Read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2560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A163AD-32EC-6720-F637-248F69917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863182"/>
              </p:ext>
            </p:extLst>
          </p:nvPr>
        </p:nvGraphicFramePr>
        <p:xfrm>
          <a:off x="6265164" y="2736001"/>
          <a:ext cx="4690872" cy="3614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3852">
                  <a:extLst>
                    <a:ext uri="{9D8B030D-6E8A-4147-A177-3AD203B41FA5}">
                      <a16:colId xmlns:a16="http://schemas.microsoft.com/office/drawing/2014/main" val="2549843663"/>
                    </a:ext>
                  </a:extLst>
                </a:gridCol>
                <a:gridCol w="2827020">
                  <a:extLst>
                    <a:ext uri="{9D8B030D-6E8A-4147-A177-3AD203B41FA5}">
                      <a16:colId xmlns:a16="http://schemas.microsoft.com/office/drawing/2014/main" val="2917281081"/>
                    </a:ext>
                  </a:extLst>
                </a:gridCol>
              </a:tblGrid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38485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70767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767614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!(33)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935247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(105)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52974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h(104)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236146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601407A-5BE9-CBC9-6448-2C1B0E91C6B4}"/>
              </a:ext>
            </a:extLst>
          </p:cNvPr>
          <p:cNvCxnSpPr/>
          <p:nvPr/>
        </p:nvCxnSpPr>
        <p:spPr>
          <a:xfrm>
            <a:off x="5347716" y="5999416"/>
            <a:ext cx="6949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4F458FE-9AF8-0A2A-CD2F-36FA0B742573}"/>
              </a:ext>
            </a:extLst>
          </p:cNvPr>
          <p:cNvSpPr/>
          <p:nvPr/>
        </p:nvSpPr>
        <p:spPr>
          <a:xfrm>
            <a:off x="4503420" y="5688520"/>
            <a:ext cx="749808" cy="621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buff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9ACD09-2447-7232-B5C1-112DD447E1F8}"/>
              </a:ext>
            </a:extLst>
          </p:cNvPr>
          <p:cNvSpPr txBox="1">
            <a:spLocks/>
          </p:cNvSpPr>
          <p:nvPr/>
        </p:nvSpPr>
        <p:spPr>
          <a:xfrm>
            <a:off x="188976" y="2603691"/>
            <a:ext cx="484022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3200" dirty="0"/>
              <a:t>open(“./</a:t>
            </a:r>
            <a:r>
              <a:rPr lang="en-US" sz="3200" dirty="0" err="1"/>
              <a:t>hello_world.c</a:t>
            </a:r>
            <a:r>
              <a:rPr lang="en-US" sz="3200" dirty="0"/>
              <a:t>“)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read(3)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write(1)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close(3)</a:t>
            </a:r>
          </a:p>
        </p:txBody>
      </p:sp>
    </p:spTree>
    <p:extLst>
      <p:ext uri="{BB962C8B-B14F-4D97-AF65-F5344CB8AC3E}">
        <p14:creationId xmlns:p14="http://schemas.microsoft.com/office/powerpoint/2010/main" val="3744425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1E2D0-FC3E-2129-B164-9CD3EBD3C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429502-E561-8D08-1FDD-B3C151BE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F687F2-C552-291A-C553-ABF45B048520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82563"/>
          <a:ext cx="8128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897065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158906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1634127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93890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File descriptor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permissions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45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[STDIN]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Read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82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[STDOUT]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Write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571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[STDERR]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Write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93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./</a:t>
                      </a:r>
                      <a:r>
                        <a:rPr lang="en-US" dirty="0" err="1"/>
                        <a:t>hello_world.c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Read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2560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2E67D8-E366-37A6-0132-90D9AFE17F4E}"/>
              </a:ext>
            </a:extLst>
          </p:cNvPr>
          <p:cNvGraphicFramePr>
            <a:graphicFrameLocks noGrp="1"/>
          </p:cNvGraphicFramePr>
          <p:nvPr/>
        </p:nvGraphicFramePr>
        <p:xfrm>
          <a:off x="6265164" y="2736001"/>
          <a:ext cx="4690872" cy="3614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3852">
                  <a:extLst>
                    <a:ext uri="{9D8B030D-6E8A-4147-A177-3AD203B41FA5}">
                      <a16:colId xmlns:a16="http://schemas.microsoft.com/office/drawing/2014/main" val="2549843663"/>
                    </a:ext>
                  </a:extLst>
                </a:gridCol>
                <a:gridCol w="2827020">
                  <a:extLst>
                    <a:ext uri="{9D8B030D-6E8A-4147-A177-3AD203B41FA5}">
                      <a16:colId xmlns:a16="http://schemas.microsoft.com/office/drawing/2014/main" val="2917281081"/>
                    </a:ext>
                  </a:extLst>
                </a:gridCol>
              </a:tblGrid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38485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70767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767614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!(33)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935247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(105)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52974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h(104)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236146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9B8AFB-3313-DAFB-5700-747A60404FE4}"/>
              </a:ext>
            </a:extLst>
          </p:cNvPr>
          <p:cNvCxnSpPr/>
          <p:nvPr/>
        </p:nvCxnSpPr>
        <p:spPr>
          <a:xfrm>
            <a:off x="5347716" y="5999416"/>
            <a:ext cx="6949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E40749B-48C5-7251-CEDE-66664E380344}"/>
              </a:ext>
            </a:extLst>
          </p:cNvPr>
          <p:cNvSpPr/>
          <p:nvPr/>
        </p:nvSpPr>
        <p:spPr>
          <a:xfrm>
            <a:off x="4503420" y="5688520"/>
            <a:ext cx="749808" cy="621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buff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9A4D28-10D6-AC56-08EC-3D715C2DDAFF}"/>
              </a:ext>
            </a:extLst>
          </p:cNvPr>
          <p:cNvSpPr txBox="1">
            <a:spLocks/>
          </p:cNvSpPr>
          <p:nvPr/>
        </p:nvSpPr>
        <p:spPr>
          <a:xfrm>
            <a:off x="188976" y="2603691"/>
            <a:ext cx="484022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3200" dirty="0"/>
              <a:t>open(“./</a:t>
            </a:r>
            <a:r>
              <a:rPr lang="en-US" sz="3200" dirty="0" err="1"/>
              <a:t>hello_world.c</a:t>
            </a:r>
            <a:r>
              <a:rPr lang="en-US" sz="3200" dirty="0"/>
              <a:t>“)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read(3)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write(1)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close(3)</a:t>
            </a:r>
          </a:p>
        </p:txBody>
      </p:sp>
    </p:spTree>
    <p:extLst>
      <p:ext uri="{BB962C8B-B14F-4D97-AF65-F5344CB8AC3E}">
        <p14:creationId xmlns:p14="http://schemas.microsoft.com/office/powerpoint/2010/main" val="112115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8B43E-9541-1EED-3135-5FF0167CD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F937C5-A7B0-62D9-5653-EBED6925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4A41EB-350D-C7AC-0F14-7C81A4D77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261605"/>
              </p:ext>
            </p:extLst>
          </p:nvPr>
        </p:nvGraphicFramePr>
        <p:xfrm>
          <a:off x="2032000" y="182563"/>
          <a:ext cx="8128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897065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158906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1634127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93890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File descriptor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permissions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45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[STDIN]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Read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82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[STDOUT]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Write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571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[STDERR]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Write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93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2560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229319-DF96-DC65-31DD-4E2645914772}"/>
              </a:ext>
            </a:extLst>
          </p:cNvPr>
          <p:cNvGraphicFramePr>
            <a:graphicFrameLocks noGrp="1"/>
          </p:cNvGraphicFramePr>
          <p:nvPr/>
        </p:nvGraphicFramePr>
        <p:xfrm>
          <a:off x="6265164" y="2736001"/>
          <a:ext cx="4690872" cy="3614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3852">
                  <a:extLst>
                    <a:ext uri="{9D8B030D-6E8A-4147-A177-3AD203B41FA5}">
                      <a16:colId xmlns:a16="http://schemas.microsoft.com/office/drawing/2014/main" val="2549843663"/>
                    </a:ext>
                  </a:extLst>
                </a:gridCol>
                <a:gridCol w="2827020">
                  <a:extLst>
                    <a:ext uri="{9D8B030D-6E8A-4147-A177-3AD203B41FA5}">
                      <a16:colId xmlns:a16="http://schemas.microsoft.com/office/drawing/2014/main" val="2917281081"/>
                    </a:ext>
                  </a:extLst>
                </a:gridCol>
              </a:tblGrid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38485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70767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‘\0’(0)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767614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!(33)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935247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(105)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52974"/>
                  </a:ext>
                </a:extLst>
              </a:tr>
              <a:tr h="60240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h(104)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0x0000009CF0FFF860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236146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641BE67-74B2-58BC-5CA4-646C77318B2F}"/>
              </a:ext>
            </a:extLst>
          </p:cNvPr>
          <p:cNvCxnSpPr/>
          <p:nvPr/>
        </p:nvCxnSpPr>
        <p:spPr>
          <a:xfrm>
            <a:off x="5347716" y="5999416"/>
            <a:ext cx="6949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BC52F0E-D978-5B60-A569-6C7A128FDC3C}"/>
              </a:ext>
            </a:extLst>
          </p:cNvPr>
          <p:cNvSpPr/>
          <p:nvPr/>
        </p:nvSpPr>
        <p:spPr>
          <a:xfrm>
            <a:off x="4503420" y="5688520"/>
            <a:ext cx="749808" cy="621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buff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97B3FE9-CBCB-3EAC-13C8-3F3DE12BFAFA}"/>
              </a:ext>
            </a:extLst>
          </p:cNvPr>
          <p:cNvSpPr txBox="1">
            <a:spLocks/>
          </p:cNvSpPr>
          <p:nvPr/>
        </p:nvSpPr>
        <p:spPr>
          <a:xfrm>
            <a:off x="188976" y="2603691"/>
            <a:ext cx="484022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3200" dirty="0"/>
              <a:t>open(“./</a:t>
            </a:r>
            <a:r>
              <a:rPr lang="en-US" sz="3200" dirty="0" err="1"/>
              <a:t>hello_world.c</a:t>
            </a:r>
            <a:r>
              <a:rPr lang="en-US" sz="3200" dirty="0"/>
              <a:t>“)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read(3)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write(1)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close(3)</a:t>
            </a:r>
          </a:p>
        </p:txBody>
      </p:sp>
    </p:spTree>
    <p:extLst>
      <p:ext uri="{BB962C8B-B14F-4D97-AF65-F5344CB8AC3E}">
        <p14:creationId xmlns:p14="http://schemas.microsoft.com/office/powerpoint/2010/main" val="1434150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6EBFC-4009-2664-388F-B2AC7231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</a:t>
            </a:r>
            <a:r>
              <a:rPr lang="en-US" dirty="0" err="1"/>
              <a:t>stdio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39565-298E-6456-ED0B-F0A38B177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B10A8-E5F9-92ED-B857-F7BB53BC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87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BCE8-AEC5-8F5E-BC3C-EB0126E0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4B185-0394-A573-ECAA-C039D0DB7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31446-52B5-F14F-206F-A7CF12C6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00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46C92-1973-CB9D-26D8-D528CD631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Reversing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D9669-D7CB-ED48-24F1-6252DF27F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D2CB1-45AC-5BD4-267A-4BE4585C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85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F6FD2-00C7-8309-6A39-F69FE448C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Compilation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19AF8-33AD-32E2-38D4-BCB1BA2D9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Compile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Assemble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Link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94615-2D62-44BB-3491-5A1DDD070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C22DC2-0519-CFB0-6E2B-B896D5FD7396}"/>
              </a:ext>
            </a:extLst>
          </p:cNvPr>
          <p:cNvSpPr/>
          <p:nvPr/>
        </p:nvSpPr>
        <p:spPr>
          <a:xfrm>
            <a:off x="3844213" y="3588236"/>
            <a:ext cx="4646645" cy="30638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#include &lt;</a:t>
            </a:r>
            <a:r>
              <a:rPr lang="en-US" sz="2800" dirty="0" err="1">
                <a:solidFill>
                  <a:schemeClr val="tx1"/>
                </a:solidFill>
              </a:rPr>
              <a:t>stdio.h</a:t>
            </a:r>
            <a:r>
              <a:rPr lang="en-US" sz="2800" dirty="0">
                <a:solidFill>
                  <a:schemeClr val="tx1"/>
                </a:solidFill>
              </a:rPr>
              <a:t>&gt;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int main(){</a:t>
            </a:r>
          </a:p>
          <a:p>
            <a:r>
              <a:rPr lang="en-US" sz="2800" dirty="0">
                <a:solidFill>
                  <a:schemeClr val="tx1"/>
                </a:solidFill>
              </a:rPr>
              <a:t>	</a:t>
            </a:r>
            <a:r>
              <a:rPr lang="en-US" sz="2800" dirty="0" err="1">
                <a:solidFill>
                  <a:schemeClr val="tx1"/>
                </a:solidFill>
              </a:rPr>
              <a:t>printf</a:t>
            </a:r>
            <a:r>
              <a:rPr lang="en-US" sz="2800" dirty="0">
                <a:solidFill>
                  <a:schemeClr val="tx1"/>
                </a:solidFill>
              </a:rPr>
              <a:t>("hello world!\n");</a:t>
            </a:r>
          </a:p>
          <a:p>
            <a:r>
              <a:rPr lang="en-US" sz="2800" dirty="0">
                <a:solidFill>
                  <a:schemeClr val="tx1"/>
                </a:solidFill>
              </a:rPr>
              <a:t>}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770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61C1-750F-BA4E-6787-2D5756B6D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</a:t>
            </a:r>
            <a:br>
              <a:rPr lang="en-US" dirty="0"/>
            </a:br>
            <a:r>
              <a:rPr lang="en-US" sz="2400" dirty="0" err="1"/>
              <a:t>hello_world.s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05902-3BCA-D184-B732-795086A6E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850" y="1825626"/>
            <a:ext cx="3228976" cy="3727450"/>
          </a:xfrm>
          <a:noFill/>
          <a:ln>
            <a:solidFill>
              <a:srgbClr val="1B1B1B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lea	</a:t>
            </a:r>
            <a:r>
              <a:rPr lang="en-US" dirty="0" err="1"/>
              <a:t>rax</a:t>
            </a:r>
            <a:r>
              <a:rPr lang="en-US" dirty="0"/>
              <a:t>, .LC0[rip]</a:t>
            </a:r>
          </a:p>
          <a:p>
            <a:pPr marL="0" indent="0">
              <a:buNone/>
            </a:pPr>
            <a:r>
              <a:rPr lang="en-US" dirty="0"/>
              <a:t>mov	</a:t>
            </a:r>
            <a:r>
              <a:rPr lang="en-US" dirty="0" err="1"/>
              <a:t>rcx</a:t>
            </a:r>
            <a:r>
              <a:rPr lang="en-US" dirty="0"/>
              <a:t>, </a:t>
            </a:r>
            <a:r>
              <a:rPr lang="en-US" dirty="0" err="1"/>
              <a:t>rax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call	puts</a:t>
            </a:r>
          </a:p>
          <a:p>
            <a:pPr marL="0" indent="0">
              <a:buNone/>
            </a:pPr>
            <a:r>
              <a:rPr lang="en-US" dirty="0"/>
              <a:t>mov	</a:t>
            </a:r>
            <a:r>
              <a:rPr lang="en-US" dirty="0" err="1"/>
              <a:t>eax</a:t>
            </a:r>
            <a:r>
              <a:rPr lang="en-US" dirty="0"/>
              <a:t>, 0</a:t>
            </a:r>
          </a:p>
          <a:p>
            <a:pPr marL="0" indent="0">
              <a:buNone/>
            </a:pPr>
            <a:r>
              <a:rPr lang="en-US" dirty="0"/>
              <a:t>add	</a:t>
            </a:r>
            <a:r>
              <a:rPr lang="en-US" dirty="0" err="1"/>
              <a:t>rsp</a:t>
            </a:r>
            <a:r>
              <a:rPr lang="en-US" dirty="0"/>
              <a:t>, 32</a:t>
            </a:r>
          </a:p>
          <a:p>
            <a:pPr marL="0" indent="0">
              <a:buNone/>
            </a:pPr>
            <a:r>
              <a:rPr lang="en-US" dirty="0"/>
              <a:t>pop	</a:t>
            </a:r>
            <a:r>
              <a:rPr lang="en-US" dirty="0" err="1"/>
              <a:t>rbp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ret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D6A10-56CD-924B-59C1-D2F5F5310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74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486DA-383D-6D81-1875-EBF45B87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Assemble</a:t>
            </a:r>
            <a:br>
              <a:rPr lang="en-US" dirty="0"/>
            </a:br>
            <a:r>
              <a:rPr lang="en-US" sz="2400" dirty="0" err="1"/>
              <a:t>hello_world.o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6469B-DB88-66E7-AE6F-CA9C254F7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27300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Contents of section .text:</a:t>
            </a:r>
          </a:p>
          <a:p>
            <a:pPr marL="0" indent="0">
              <a:buNone/>
            </a:pPr>
            <a:r>
              <a:rPr lang="en-US" dirty="0"/>
              <a:t> 0000 554889e5 4883ec20 e8000000 00488d05  UH..H.. .....H..</a:t>
            </a:r>
          </a:p>
          <a:p>
            <a:pPr marL="0" indent="0">
              <a:buNone/>
            </a:pPr>
            <a:r>
              <a:rPr lang="en-US" dirty="0"/>
              <a:t> 0010 00000000 4889c1e8 00000000 b8000000  ....H...........</a:t>
            </a:r>
          </a:p>
          <a:p>
            <a:pPr marL="0" indent="0">
              <a:buNone/>
            </a:pPr>
            <a:r>
              <a:rPr lang="en-US" dirty="0"/>
              <a:t> 0020 004883c4 205dc390 90909090 90909090  .H.. ]..........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F7293-C3A1-C6E5-DF56-EC7A6A4E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364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9BA80-2B69-7181-E46A-6EA8F1FF7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DCA06-C262-DE32-7AD7-625BD6002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79775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$</a:t>
            </a:r>
            <a:r>
              <a:rPr lang="en-US" dirty="0" err="1"/>
              <a:t>dir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10/20/2025  05:38 PM		128,829	hello_world.exe</a:t>
            </a:r>
          </a:p>
          <a:p>
            <a:pPr marL="0" indent="0">
              <a:buNone/>
            </a:pPr>
            <a:r>
              <a:rPr lang="en-US" dirty="0"/>
              <a:t>10/17/2025  05:55 PM		66		</a:t>
            </a:r>
            <a:r>
              <a:rPr lang="en-US" dirty="0" err="1"/>
              <a:t>hello_world.c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10/20/2025  05:36 PM		882		</a:t>
            </a:r>
            <a:r>
              <a:rPr lang="en-US" dirty="0" err="1"/>
              <a:t>hello_world.o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10/20/2025  05:34 PM		571		</a:t>
            </a:r>
            <a:r>
              <a:rPr lang="en-US" dirty="0" err="1"/>
              <a:t>hello_world.s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51250-148D-76CE-AC60-98AE0975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77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A8200-CB7D-F496-4F39-23BDDB39D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 Your Compiler!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D258F-E7A0-D3F1-6657-D1F80806C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DC1D7-73E4-27CD-7603-695D96A5C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890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58B21-3EE4-249E-7429-D7C783D6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Much Added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CDF14-0322-1909-B1AF-09F098340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77050" cy="3184525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WinMainCRTStartup</a:t>
            </a:r>
            <a:r>
              <a:rPr lang="en-US" dirty="0"/>
              <a:t>(void);</a:t>
            </a:r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mainCRTStartup</a:t>
            </a:r>
            <a:r>
              <a:rPr lang="en-US" dirty="0"/>
              <a:t>(void);</a:t>
            </a:r>
          </a:p>
          <a:p>
            <a:pPr marL="0" indent="0">
              <a:buNone/>
            </a:pPr>
            <a:r>
              <a:rPr lang="en-US" dirty="0"/>
              <a:t>int32_t </a:t>
            </a:r>
            <a:r>
              <a:rPr lang="en-US" dirty="0" err="1"/>
              <a:t>atexit</a:t>
            </a:r>
            <a:r>
              <a:rPr lang="en-US" dirty="0"/>
              <a:t>(void (*</a:t>
            </a:r>
            <a:r>
              <a:rPr lang="en-US" dirty="0" err="1"/>
              <a:t>func</a:t>
            </a:r>
            <a:r>
              <a:rPr lang="en-US" dirty="0"/>
              <a:t>)(void));</a:t>
            </a:r>
          </a:p>
          <a:p>
            <a:pPr marL="0" indent="0">
              <a:buNone/>
            </a:pPr>
            <a:r>
              <a:rPr lang="en-US" dirty="0"/>
              <a:t>int64_t __</a:t>
            </a:r>
            <a:r>
              <a:rPr lang="en-US" dirty="0" err="1"/>
              <a:t>gcc_register_frame</a:t>
            </a:r>
            <a:r>
              <a:rPr lang="en-US" dirty="0"/>
              <a:t>(void);</a:t>
            </a:r>
          </a:p>
          <a:p>
            <a:pPr marL="0" indent="0">
              <a:buNone/>
            </a:pPr>
            <a:r>
              <a:rPr lang="en-US" dirty="0"/>
              <a:t>void __</a:t>
            </a:r>
            <a:r>
              <a:rPr lang="en-US" dirty="0" err="1"/>
              <a:t>gcc_deregister_frame</a:t>
            </a:r>
            <a:r>
              <a:rPr lang="en-US" dirty="0"/>
              <a:t>(void) __pure;</a:t>
            </a:r>
          </a:p>
          <a:p>
            <a:pPr marL="0" indent="0">
              <a:buNone/>
            </a:pPr>
            <a:r>
              <a:rPr lang="en-US" dirty="0"/>
              <a:t>int64_t main(void);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35413-45BC-4A7C-96C1-7C23AF686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669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8F571-488D-084B-16C7-15CFDDD3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Relevant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FC6FB-5BD2-6DB9-6571-76EE07003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57700" cy="2660650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dirty="0"/>
              <a:t>int64_t main() {</a:t>
            </a:r>
          </a:p>
          <a:p>
            <a:pPr marL="0" indent="0">
              <a:buNone/>
            </a:pPr>
            <a:r>
              <a:rPr lang="en-US" dirty="0"/>
              <a:t>	__main();</a:t>
            </a:r>
          </a:p>
          <a:p>
            <a:pPr marL="0" indent="0">
              <a:buNone/>
            </a:pPr>
            <a:r>
              <a:rPr lang="en-US" dirty="0"/>
              <a:t>	puts("hello world!");</a:t>
            </a:r>
          </a:p>
          <a:p>
            <a:pPr marL="0" indent="0">
              <a:buNone/>
            </a:pPr>
            <a:r>
              <a:rPr lang="en-US" dirty="0"/>
              <a:t>	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E6589-13F4-BE99-EE5F-3F6B562D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36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</TotalTime>
  <Words>958</Words>
  <Application>Microsoft Office PowerPoint</Application>
  <PresentationFormat>Widescreen</PresentationFormat>
  <Paragraphs>320</Paragraphs>
  <Slides>31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Office Theme</vt:lpstr>
      <vt:lpstr>Pointers and I/O</vt:lpstr>
      <vt:lpstr>Table of Contents</vt:lpstr>
      <vt:lpstr>Summary of Last Talk</vt:lpstr>
      <vt:lpstr>PowerPoint Presentation</vt:lpstr>
      <vt:lpstr>Categories</vt:lpstr>
      <vt:lpstr>Reverse Engineering </vt:lpstr>
      <vt:lpstr>Instances</vt:lpstr>
      <vt:lpstr>Types of Analysis</vt:lpstr>
      <vt:lpstr>Static Analysis</vt:lpstr>
      <vt:lpstr>Tools</vt:lpstr>
      <vt:lpstr>Pointers</vt:lpstr>
      <vt:lpstr>Pointer Types</vt:lpstr>
      <vt:lpstr>Demo</vt:lpstr>
      <vt:lpstr>Input/Output</vt:lpstr>
      <vt:lpstr>File Descriptors</vt:lpstr>
      <vt:lpstr>FD’s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about stdio?</vt:lpstr>
      <vt:lpstr>Demo</vt:lpstr>
      <vt:lpstr>More Reversing</vt:lpstr>
      <vt:lpstr>The Compilation Process</vt:lpstr>
      <vt:lpstr>Compile hello_world.s</vt:lpstr>
      <vt:lpstr>Assemble hello_world.o</vt:lpstr>
      <vt:lpstr>Link</vt:lpstr>
      <vt:lpstr>Know Your Compiler!</vt:lpstr>
      <vt:lpstr>So Much Added Code!</vt:lpstr>
      <vt:lpstr>Find the Relevant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Ghaffarian</dc:creator>
  <cp:lastModifiedBy>Ali Ghaffarian</cp:lastModifiedBy>
  <cp:revision>37</cp:revision>
  <dcterms:created xsi:type="dcterms:W3CDTF">2025-10-17T10:34:58Z</dcterms:created>
  <dcterms:modified xsi:type="dcterms:W3CDTF">2025-11-14T08:08:36Z</dcterms:modified>
</cp:coreProperties>
</file>